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8A6D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BỜ BIỂN NGÀ</c:v>
                  </c:pt>
                  <c:pt idx="1">
                    <c:v>Other</c:v>
                  </c:pt>
                  <c:pt idx="2">
                    <c:v>CAMPUCHIA</c:v>
                  </c:pt>
                  <c:pt idx="3">
                    <c:v>NIGIÊRIA</c:v>
                  </c:pt>
                  <c:pt idx="4">
                    <c:v>GANA</c:v>
                  </c:pt>
                  <c:pt idx="5">
                    <c:v>INĐÔNÊXIA</c:v>
                  </c:pt>
                  <c:pt idx="6">
                    <c:v>TANZANIA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147118634</c:v>
                </c:pt>
                <c:pt idx="1">
                  <c:v>137273869</c:v>
                </c:pt>
                <c:pt idx="2">
                  <c:v>36806721</c:v>
                </c:pt>
                <c:pt idx="3">
                  <c:v>33066297</c:v>
                </c:pt>
                <c:pt idx="4">
                  <c:v>26137674</c:v>
                </c:pt>
                <c:pt idx="5">
                  <c:v>4856401</c:v>
                </c:pt>
                <c:pt idx="6">
                  <c:v>72800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8A6D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Thị phần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bubble3D val="0"/>
            <c:spPr>
              <a:solidFill>
                <a:srgbClr val="3E7C4F"/>
              </a:solidFill>
              <a:effectLst/>
            </c:spPr>
          </c:dPt>
          <c:dPt>
            <c:idx val="2"/>
            <c:bubble3D val="0"/>
            <c:spPr>
              <a:solidFill>
                <a:srgbClr val="8A6D1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Khác</c:v>
                </c:pt>
                <c:pt idx="1">
                  <c:v>Châu Á</c:v>
                </c:pt>
                <c:pt idx="2">
                  <c:v>Châu Phi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343596474</c:v>
                </c:pt>
                <c:pt idx="1">
                  <c:v>41663122</c:v>
                </c:pt>
                <c:pt idx="2">
                  <c:v>72800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B211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Trị giá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Sheet1!$A$2:$A$84</c:f>
              <c:multiLvlStrCache>
                <c:ptCount val="83"/>
                <c:lvl>
                  <c:pt idx="0">
                    <c:v>2018-12</c:v>
                  </c:pt>
                  <c:pt idx="1">
                    <c:v>2019-12</c:v>
                  </c:pt>
                  <c:pt idx="2">
                    <c:v>2020-01</c:v>
                  </c:pt>
                  <c:pt idx="3">
                    <c:v>2020-02</c:v>
                  </c:pt>
                  <c:pt idx="4">
                    <c:v>2020-03</c:v>
                  </c:pt>
                  <c:pt idx="5">
                    <c:v>2020-04</c:v>
                  </c:pt>
                  <c:pt idx="6">
                    <c:v>2020-05</c:v>
                  </c:pt>
                  <c:pt idx="7">
                    <c:v>2020-06</c:v>
                  </c:pt>
                  <c:pt idx="8">
                    <c:v>2020-07</c:v>
                  </c:pt>
                  <c:pt idx="9">
                    <c:v>2020-08</c:v>
                  </c:pt>
                  <c:pt idx="10">
                    <c:v>2020-09</c:v>
                  </c:pt>
                  <c:pt idx="11">
                    <c:v>2020-10</c:v>
                  </c:pt>
                  <c:pt idx="12">
                    <c:v>2020-11</c:v>
                  </c:pt>
                  <c:pt idx="13">
                    <c:v>2020-12</c:v>
                  </c:pt>
                  <c:pt idx="14">
                    <c:v>2021-01</c:v>
                  </c:pt>
                  <c:pt idx="15">
                    <c:v>2021-02</c:v>
                  </c:pt>
                  <c:pt idx="16">
                    <c:v>2021-03</c:v>
                  </c:pt>
                  <c:pt idx="17">
                    <c:v>2021-04</c:v>
                  </c:pt>
                  <c:pt idx="18">
                    <c:v>2021-05</c:v>
                  </c:pt>
                  <c:pt idx="19">
                    <c:v>2021-06</c:v>
                  </c:pt>
                  <c:pt idx="20">
                    <c:v>2021-07</c:v>
                  </c:pt>
                  <c:pt idx="21">
                    <c:v>2021-08</c:v>
                  </c:pt>
                  <c:pt idx="22">
                    <c:v>2021-09</c:v>
                  </c:pt>
                  <c:pt idx="23">
                    <c:v>2021-10</c:v>
                  </c:pt>
                  <c:pt idx="24">
                    <c:v>2021-11</c:v>
                  </c:pt>
                  <c:pt idx="25">
                    <c:v>2021-12</c:v>
                  </c:pt>
                  <c:pt idx="26">
                    <c:v>2022-01</c:v>
                  </c:pt>
                  <c:pt idx="27">
                    <c:v>2022-02</c:v>
                  </c:pt>
                  <c:pt idx="28">
                    <c:v>2022-03</c:v>
                  </c:pt>
                  <c:pt idx="29">
                    <c:v>2022-04</c:v>
                  </c:pt>
                  <c:pt idx="30">
                    <c:v>2022-05</c:v>
                  </c:pt>
                  <c:pt idx="31">
                    <c:v>2022-06</c:v>
                  </c:pt>
                  <c:pt idx="32">
                    <c:v>2022-07</c:v>
                  </c:pt>
                  <c:pt idx="33">
                    <c:v>2022-08</c:v>
                  </c:pt>
                  <c:pt idx="34">
                    <c:v>2022-09</c:v>
                  </c:pt>
                  <c:pt idx="35">
                    <c:v>2022-10</c:v>
                  </c:pt>
                  <c:pt idx="36">
                    <c:v>2022-11</c:v>
                  </c:pt>
                  <c:pt idx="37">
                    <c:v>2022-12</c:v>
                  </c:pt>
                  <c:pt idx="38">
                    <c:v>2023-01</c:v>
                  </c:pt>
                  <c:pt idx="39">
                    <c:v>2023-02</c:v>
                  </c:pt>
                  <c:pt idx="40">
                    <c:v>2023-03</c:v>
                  </c:pt>
                  <c:pt idx="41">
                    <c:v>2023-04</c:v>
                  </c:pt>
                  <c:pt idx="42">
                    <c:v>2023-05</c:v>
                  </c:pt>
                  <c:pt idx="43">
                    <c:v>2023-06</c:v>
                  </c:pt>
                  <c:pt idx="44">
                    <c:v>2023-07</c:v>
                  </c:pt>
                  <c:pt idx="45">
                    <c:v>2023-08</c:v>
                  </c:pt>
                  <c:pt idx="46">
                    <c:v>2023-09</c:v>
                  </c:pt>
                  <c:pt idx="47">
                    <c:v>2023-10</c:v>
                  </c:pt>
                  <c:pt idx="48">
                    <c:v>2023-11</c:v>
                  </c:pt>
                  <c:pt idx="49">
                    <c:v>2023-12</c:v>
                  </c:pt>
                  <c:pt idx="50">
                    <c:v>2024-01</c:v>
                  </c:pt>
                  <c:pt idx="51">
                    <c:v>2024-02</c:v>
                  </c:pt>
                  <c:pt idx="52">
                    <c:v>2024-03</c:v>
                  </c:pt>
                  <c:pt idx="53">
                    <c:v>2024-04</c:v>
                  </c:pt>
                  <c:pt idx="54">
                    <c:v>2024-05</c:v>
                  </c:pt>
                  <c:pt idx="55">
                    <c:v>2024-06</c:v>
                  </c:pt>
                  <c:pt idx="56">
                    <c:v>2024-07</c:v>
                  </c:pt>
                  <c:pt idx="57">
                    <c:v>2024-08</c:v>
                  </c:pt>
                  <c:pt idx="58">
                    <c:v>2024-09</c:v>
                  </c:pt>
                  <c:pt idx="59">
                    <c:v>2024-10</c:v>
                  </c:pt>
                  <c:pt idx="60">
                    <c:v>2024-11</c:v>
                  </c:pt>
                  <c:pt idx="61">
                    <c:v>2024-12</c:v>
                  </c:pt>
                  <c:pt idx="62">
                    <c:v>2025-01</c:v>
                  </c:pt>
                  <c:pt idx="63">
                    <c:v>2025-02</c:v>
                  </c:pt>
                  <c:pt idx="64">
                    <c:v>2025-03</c:v>
                  </c:pt>
                  <c:pt idx="65">
                    <c:v>2025-04</c:v>
                  </c:pt>
                  <c:pt idx="66">
                    <c:v>2025-05</c:v>
                  </c:pt>
                  <c:pt idx="67">
                    <c:v>2025-06</c:v>
                  </c:pt>
                  <c:pt idx="68">
                    <c:v>2025-07</c:v>
                  </c:pt>
                  <c:pt idx="69">
                    <c:v>2025-08</c:v>
                  </c:pt>
                  <c:pt idx="70">
                    <c:v>2025-09</c:v>
                  </c:pt>
                  <c:pt idx="71">
                    <c:v>2025-10</c:v>
                  </c:pt>
                  <c:pt idx="72">
                    <c:v>2025-11</c:v>
                  </c:pt>
                  <c:pt idx="73">
                    <c:v>2025-12</c:v>
                  </c:pt>
                  <c:pt idx="74">
                    <c:v>2026-01</c:v>
                  </c:pt>
                  <c:pt idx="75">
                    <c:v>2026-02</c:v>
                  </c:pt>
                  <c:pt idx="76">
                    <c:v>2026-03</c:v>
                  </c:pt>
                  <c:pt idx="77">
                    <c:v>2026-04</c:v>
                  </c:pt>
                  <c:pt idx="78">
                    <c:v>2026-05</c:v>
                  </c:pt>
                  <c:pt idx="79">
                    <c:v>2026-06</c:v>
                  </c:pt>
                  <c:pt idx="80">
                    <c:v>2026-07</c:v>
                  </c:pt>
                  <c:pt idx="81">
                    <c:v>2026-08</c:v>
                  </c:pt>
                  <c:pt idx="82">
                    <c:v>2026-09</c:v>
                  </c:pt>
                </c:lvl>
              </c:multiLvlStrCache>
            </c:multiLvlStrRef>
          </c:cat>
          <c:val>
            <c:numRef>
              <c:f>Sheet1!$B$2:$B$84</c:f>
              <c:numCache>
                <c:formatCode>General</c:formatCode>
                <c:ptCount val="83"/>
                <c:pt idx="0">
                  <c:v/>
                </c:pt>
                <c:pt idx="1">
                  <c:v/>
                </c:pt>
                <c:pt idx="2">
                  <c:v>85055470</c:v>
                </c:pt>
                <c:pt idx="3">
                  <c:v>90639652</c:v>
                </c:pt>
                <c:pt idx="4">
                  <c:v>133243601</c:v>
                </c:pt>
                <c:pt idx="5">
                  <c:v>135328631</c:v>
                </c:pt>
                <c:pt idx="6">
                  <c:v>135548192</c:v>
                </c:pt>
                <c:pt idx="7">
                  <c:v>217385592</c:v>
                </c:pt>
                <c:pt idx="8">
                  <c:v>195365263</c:v>
                </c:pt>
                <c:pt idx="9">
                  <c:v>200964433</c:v>
                </c:pt>
                <c:pt idx="10">
                  <c:v>158858476</c:v>
                </c:pt>
                <c:pt idx="11">
                  <c:v>112484904</c:v>
                </c:pt>
                <c:pt idx="12">
                  <c:v>147745517</c:v>
                </c:pt>
                <c:pt idx="13">
                  <c:v>195593629</c:v>
                </c:pt>
                <c:pt idx="14">
                  <c:v>182522049</c:v>
                </c:pt>
                <c:pt idx="15">
                  <c:v>178350136</c:v>
                </c:pt>
                <c:pt idx="16">
                  <c:v>771642811</c:v>
                </c:pt>
                <c:pt idx="17">
                  <c:v>761297392</c:v>
                </c:pt>
                <c:pt idx="18">
                  <c:v>388024083</c:v>
                </c:pt>
                <c:pt idx="19">
                  <c:v>404731400</c:v>
                </c:pt>
                <c:pt idx="20">
                  <c:v>429837119</c:v>
                </c:pt>
                <c:pt idx="21">
                  <c:v>309204009</c:v>
                </c:pt>
                <c:pt idx="22">
                  <c:v>303529781</c:v>
                </c:pt>
                <c:pt idx="23">
                  <c:v>201057181</c:v>
                </c:pt>
                <c:pt idx="24">
                  <c:v>168571728</c:v>
                </c:pt>
                <c:pt idx="25">
                  <c:v>143393382</c:v>
                </c:pt>
                <c:pt idx="26">
                  <c:v/>
                </c:pt>
                <c:pt idx="27">
                  <c:v>132054361</c:v>
                </c:pt>
                <c:pt idx="28">
                  <c:v>502525359</c:v>
                </c:pt>
                <c:pt idx="29">
                  <c:v/>
                </c:pt>
                <c:pt idx="30">
                  <c:v>268673739</c:v>
                </c:pt>
                <c:pt idx="31">
                  <c:v>308599927</c:v>
                </c:pt>
                <c:pt idx="32">
                  <c:v>262386909</c:v>
                </c:pt>
                <c:pt idx="33">
                  <c:v>212305817</c:v>
                </c:pt>
                <c:pt idx="34">
                  <c:v/>
                </c:pt>
                <c:pt idx="35">
                  <c:v>132972784</c:v>
                </c:pt>
                <c:pt idx="36">
                  <c:v>93029767</c:v>
                </c:pt>
                <c:pt idx="37">
                  <c:v>93437339</c:v>
                </c:pt>
                <c:pt idx="38">
                  <c:v>128809678</c:v>
                </c:pt>
                <c:pt idx="39">
                  <c:v/>
                </c:pt>
                <c:pt idx="40">
                  <c:v>413040074</c:v>
                </c:pt>
                <c:pt idx="41">
                  <c:v/>
                </c:pt>
                <c:pt idx="42">
                  <c:v>320368869</c:v>
                </c:pt>
                <c:pt idx="43">
                  <c:v>349513304</c:v>
                </c:pt>
                <c:pt idx="44">
                  <c:v>390175214</c:v>
                </c:pt>
                <c:pt idx="45">
                  <c:v>347733082</c:v>
                </c:pt>
                <c:pt idx="46">
                  <c:v>250761342</c:v>
                </c:pt>
                <c:pt idx="47">
                  <c:v>198165604</c:v>
                </c:pt>
                <c:pt idx="48">
                  <c:v>147427914</c:v>
                </c:pt>
                <c:pt idx="49">
                  <c:v>123198860</c:v>
                </c:pt>
                <c:pt idx="50">
                  <c:v>104865382</c:v>
                </c:pt>
                <c:pt idx="51">
                  <c:v>170186874</c:v>
                </c:pt>
                <c:pt idx="52">
                  <c:v/>
                </c:pt>
                <c:pt idx="53">
                  <c:v>366532589</c:v>
                </c:pt>
                <c:pt idx="54">
                  <c:v/>
                </c:pt>
                <c:pt idx="55">
                  <c:v>320676826</c:v>
                </c:pt>
                <c:pt idx="56">
                  <c:v>345331474</c:v>
                </c:pt>
                <c:pt idx="57">
                  <c:v>282678442</c:v>
                </c:pt>
                <c:pt idx="58">
                  <c:v>247612470</c:v>
                </c:pt>
                <c:pt idx="59">
                  <c:v>219371544</c:v>
                </c:pt>
                <c:pt idx="60">
                  <c:v>139953124</c:v>
                </c:pt>
                <c:pt idx="61">
                  <c:v>184696457</c:v>
                </c:pt>
                <c:pt idx="62">
                  <c:v>169228443</c:v>
                </c:pt>
                <c:pt idx="63">
                  <c:v>250111901</c:v>
                </c:pt>
                <c:pt idx="64">
                  <c:v>503876684</c:v>
                </c:pt>
                <c:pt idx="65">
                  <c:v>720736186</c:v>
                </c:pt>
                <c:pt idx="66">
                  <c:v>430500021</c:v>
                </c:pt>
                <c:pt idx="67">
                  <c:v>417822122</c:v>
                </c:pt>
                <c:pt idx="68">
                  <c:v>432303955</c:v>
                </c:pt>
                <c:pt idx="69">
                  <c:v>392620859</c:v>
                </c:pt>
                <c:pt idx="70">
                  <c:v>401490711</c:v>
                </c:pt>
                <c:pt idx="71">
                  <c:v>263552992</c:v>
                </c:pt>
                <c:pt idx="72">
                  <c:v>267842627</c:v>
                </c:pt>
                <c:pt idx="73">
                  <c:v>241615628</c:v>
                </c:pt>
                <c:pt idx="74">
                  <c:v>214762396</c:v>
                </c:pt>
                <c:pt idx="75">
                  <c:v>244634767</c:v>
                </c:pt>
                <c:pt idx="76">
                  <c:v>752332861</c:v>
                </c:pt>
                <c:pt idx="77">
                  <c:v>879271573</c:v>
                </c:pt>
                <c:pt idx="78">
                  <c:v>353885112</c:v>
                </c:pt>
                <c:pt idx="79">
                  <c:v>369215149</c:v>
                </c:pt>
                <c:pt idx="80">
                  <c:v>402148046</c:v>
                </c:pt>
                <c:pt idx="81">
                  <c:v>297661433</c:v>
                </c:pt>
                <c:pt idx="82">
                  <c:v>385332396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ON FOOD · TRADE EXPLORER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1521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khẩu Hạt điều Việt Nam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9260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Kỳ: 2026-09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tạo: 09:53:14 27/10/2026   ·   Nguồn: Tổng cục Hải quan Việt Nam (TCHQ) · customs.gov.vn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3A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tiết: Tháng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Nhập khẩu · Kỳ 2026-09  (vs 2026-08)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234.594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tháng (Tấn)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97280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+25.8%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$385.33M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Trị giá tháng (USD)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95928" y="281635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E7C4F"/>
          </a:solidFill>
          <a:ln/>
        </p:spPr>
      </p:sp>
      <p:sp>
        <p:nvSpPr>
          <p:cNvPr id="12" name="Text 10"/>
          <p:cNvSpPr/>
          <p:nvPr/>
        </p:nvSpPr>
        <p:spPr>
          <a:xfrm>
            <a:off x="3995928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+29.5%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2.350.540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63056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Lượng (Tấn)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61704" y="1051560"/>
            <a:ext cx="2651760" cy="2286000"/>
          </a:xfrm>
          <a:prstGeom prst="rect">
            <a:avLst/>
          </a:prstGeom>
          <a:solidFill>
            <a:srgbClr val="F7EFD8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13258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$3.89B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61704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Trị giá (USD)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Cán cân thương mại (XK − NK): $84.60M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định điều hành &amp; Động lực thị trường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(kỳ 2025-09).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06M (+10,2%).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USD/tấn đối với NK 1.643 USD/tấn.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thị trường · Kỳ 2026-09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6868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phần theo khu vực · Kỳ 2026-09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011680" y="914400"/>
          <a:ext cx="82296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trị giá · Tháng</a:t>
            </a:r>
            <a:endParaRPr lang="en-US" sz="1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1124712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khẩu theo quốc gia · Hạt điều · 2026-09 (1–7/7)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11612880" cy="914400"/>
        </p:xfrm>
        <a:graphic>
          <a:graphicData uri="http://schemas.openxmlformats.org/drawingml/2006/table">
            <a:tbl>
              <a:tblPr/>
              <a:tblGrid>
                <a:gridCol w="1658983"/>
                <a:gridCol w="1658983"/>
                <a:gridCol w="1658983"/>
                <a:gridCol w="1658983"/>
                <a:gridCol w="1658983"/>
                <a:gridCol w="1658983"/>
                <a:gridCol w="1658983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Quốc gia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Mặt hàng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ĐVT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Lượng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 Trị giá (USD)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1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BỜ BIỂN NGÀ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$147.12M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448.069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$749.27M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$137.27M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CAMPUCHIA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$36.81M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1.030.757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$1.80B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NIGIÊRIA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$33.07M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$280.87M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$26.14M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134.022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$198.68M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INĐÔNÊXIA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$20.18M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TANZANIA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Hạt điều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$72.8K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1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165.364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A6D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$276.40M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D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Hải quan Việt Nam (TCHQ) · customs.gov.vn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DAN ON FOOD · Trade Explorer</dc:creator>
  <cp:lastModifiedBy>DAN ON FOOD · Trade Explorer</cp:lastModifiedBy>
  <cp:revision>1</cp:revision>
  <dcterms:created xsi:type="dcterms:W3CDTF">2026-10-27T02:53:14Z</dcterms:created>
  <dcterms:modified xsi:type="dcterms:W3CDTF">2026-10-27T02:53:14Z</dcterms:modified>
</cp:coreProperties>
</file>